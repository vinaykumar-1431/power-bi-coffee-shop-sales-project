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2137"/>
                </a:solidFill>
                <a:latin typeface="Arial"/>
              </a:rPr>
              <a:t>Total Sales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94232</c:v>
                </c:pt>
                <c:pt idx="1">
                  <c:v>88967</c:v>
                </c:pt>
                <c:pt idx="2">
                  <c:v>116287</c:v>
                </c:pt>
                <c:pt idx="3">
                  <c:v>0</c:v>
                </c:pt>
                <c:pt idx="4">
                  <c:v>184695</c:v>
                </c:pt>
                <c:pt idx="5">
                  <c:v>191234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C4-4988-86AC-FB5A6802A6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Monthly Sales Trend (Jan–Jun 2024)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ln w="38100" cap="flat">
              <a:solidFill>
                <a:srgbClr val="FF6D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D00"/>
              </a:solidFill>
              <a:ln w="9525" cap="flat">
                <a:solidFill>
                  <a:srgbClr val="FF6D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94232</c:v>
                </c:pt>
                <c:pt idx="1">
                  <c:v>88967</c:v>
                </c:pt>
                <c:pt idx="2">
                  <c:v>116287</c:v>
                </c:pt>
                <c:pt idx="3">
                  <c:v>0</c:v>
                </c:pt>
                <c:pt idx="4">
                  <c:v>184695</c:v>
                </c:pt>
                <c:pt idx="5">
                  <c:v>191234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206-487D-B80F-F2A6D9E6A5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Month-on-Month Growth %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 Growth %</c:v>
                </c:pt>
              </c:strCache>
            </c:strRef>
          </c:tx>
          <c:spPr>
            <a:solidFill>
              <a:srgbClr val="1976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May</c:v>
                </c:pt>
                <c:pt idx="4">
                  <c:v>Jun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-5.59</c:v>
                </c:pt>
                <c:pt idx="2">
                  <c:v>30.71</c:v>
                </c:pt>
                <c:pt idx="3">
                  <c:v>34.729999999999997</c:v>
                </c:pt>
                <c:pt idx="4">
                  <c:v>3.54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92-442C-B20A-A6CE697A68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Sales by Product Category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Drinking Chocolate</c:v>
                </c:pt>
                <c:pt idx="3">
                  <c:v>Bakery</c:v>
                </c:pt>
                <c:pt idx="4">
                  <c:v>Flavours</c:v>
                </c:pt>
                <c:pt idx="5">
                  <c:v>Loose Tea</c:v>
                </c:pt>
                <c:pt idx="6">
                  <c:v>Packaged Chocolate</c:v>
                </c:pt>
                <c:pt idx="7">
                  <c:v>Coffee Beans</c:v>
                </c:pt>
                <c:pt idx="8">
                  <c:v>Branded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550</c:v>
                </c:pt>
                <c:pt idx="1">
                  <c:v>380</c:v>
                </c:pt>
                <c:pt idx="2">
                  <c:v>180</c:v>
                </c:pt>
                <c:pt idx="3">
                  <c:v>150</c:v>
                </c:pt>
                <c:pt idx="4">
                  <c:v>110</c:v>
                </c:pt>
                <c:pt idx="5">
                  <c:v>90</c:v>
                </c:pt>
                <c:pt idx="6">
                  <c:v>30</c:v>
                </c:pt>
                <c:pt idx="7">
                  <c:v>20</c:v>
                </c:pt>
                <c:pt idx="8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99-48EB-968A-258BC63520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Total Sales by Store Location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FF6D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6D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3E-4391-BA65-4EC9CE4BBB52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3E-4391-BA65-4EC9CE4BBB52}"/>
              </c:ext>
            </c:extLst>
          </c:dPt>
          <c:dPt>
            <c:idx val="2"/>
            <c:invertIfNegative val="0"/>
            <c:bubble3D val="0"/>
            <c:spPr>
              <a:solidFill>
                <a:srgbClr val="00B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3E-4391-BA65-4EC9CE4BBB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523.30999999999995</c:v>
                </c:pt>
                <c:pt idx="1">
                  <c:v>501.35</c:v>
                </c:pt>
                <c:pt idx="2">
                  <c:v>475.41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D3E-4391-BA65-4EC9CE4BBB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0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448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29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48382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916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1384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3300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345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4518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125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3107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72864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688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7549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3739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1134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4734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35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6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365760"/>
            <a:ext cx="2743200" cy="2743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640080"/>
            <a:ext cx="2194560" cy="2194560"/>
          </a:xfrm>
          <a:prstGeom prst="ellipse">
            <a:avLst/>
          </a:prstGeom>
          <a:solidFill>
            <a:srgbClr val="1565C0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8229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☕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4572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Dashboard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Power BI Business Intelligence Project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5029200" cy="36576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743200"/>
            <a:ext cx="265176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743200"/>
            <a:ext cx="2651760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46120" y="2743200"/>
            <a:ext cx="265176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2743200"/>
            <a:ext cx="2651760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3090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316.124K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65176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2743200"/>
            <a:ext cx="2651760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3090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95421" y="389253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 ·  Transformation  ·  Modeling  ·  4 Dashboards  ·  Publishing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5421" y="3538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— 3rd Project  |  Power BI Desktop &amp; Service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A7442B-177B-543E-8982-D0F1353B00AD}"/>
              </a:ext>
            </a:extLst>
          </p:cNvPr>
          <p:cNvSpPr txBox="1"/>
          <p:nvPr/>
        </p:nvSpPr>
        <p:spPr>
          <a:xfrm>
            <a:off x="246184" y="4358116"/>
            <a:ext cx="770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  <a:latin typeface="Algerian" panose="04020705040A02060702" pitchFamily="82" charset="0"/>
              </a:rPr>
              <a:t>Role :- Data Analyst Intern | Vinay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Excel data into interactive dashboards that drive smarter business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51760" cy="1188720"/>
          </a:xfrm>
          <a:prstGeom prst="rect">
            <a:avLst/>
          </a:prstGeom>
          <a:solidFill>
            <a:srgbClr val="0F3460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651760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Transactions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sales &amp; order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51760" cy="1188720"/>
          </a:xfrm>
          <a:prstGeom prst="rect">
            <a:avLst/>
          </a:prstGeom>
          <a:solidFill>
            <a:srgbClr val="0F3460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651760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Dim Stores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2029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details &amp; locations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51760" cy="1188720"/>
          </a:xfrm>
          <a:prstGeom prst="rect">
            <a:avLst/>
          </a:prstGeom>
          <a:solidFill>
            <a:srgbClr val="0F3460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08760"/>
            <a:ext cx="2651760" cy="7315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Dim Products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20299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info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2743200" cy="42062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375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337560"/>
            <a:ext cx="2743200" cy="42062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3375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337560"/>
            <a:ext cx="2743200" cy="42062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3375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04488"/>
            <a:ext cx="2743200" cy="42062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9044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3904488"/>
            <a:ext cx="2743200" cy="42062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9044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904488"/>
            <a:ext cx="2743200" cy="42062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9044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Gateway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TRANSFORMATION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91440" cy="15727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69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Folder Connection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Excel files stored in one folder. Power BI auto-connects via folder path — easy refresh, no manual re-linking.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91440" cy="157276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69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Power Query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columns, fixed data types, renamed fields, handled nulls, standardized date formats.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91440" cy="1572768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986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Parameters Created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01-01-2023  |  End</a:t>
            </a:r>
            <a:r>
              <a:rPr lang="en-US" sz="110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30-05-2023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Transaction Date — loads only required data range.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88920"/>
            <a:ext cx="91440" cy="15727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8986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Date Table (Dim Date)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337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Year, Quarter, Month Name, Month-Year, Weekday, Week Number. Marked as Date Table.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000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Calculated Column:   Sales = Quantity  ×  Unit Price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CREATED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96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99669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1,500,097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SUM(Transactions[Sales])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996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43800" y="99669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316,124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3716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COUNT(Transactions[Transaction_ID])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86000"/>
            <a:ext cx="4114800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322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2322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4.75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697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Sales], [Total Orders])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2860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86000"/>
            <a:ext cx="411480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322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YTD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43800" y="2322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812,503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2697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TOTALYTD([Total Sales], 'Dim Date'[Date])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11880"/>
            <a:ext cx="4114800" cy="3474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648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64845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▲ 18.2%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4023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Sales] - [PY Sales], [PY Sales])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11880"/>
            <a:ext cx="41148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648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 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43800" y="364845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▲ 14.6%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18888" y="4023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DIVIDE([Curr Month] - [Prev Month], [Prev Month])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1  —  EXECUTIVE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32688"/>
            <a:ext cx="166420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32688"/>
            <a:ext cx="1664208" cy="914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" y="13258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37744" y="18105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14.6% vs LM (Increased)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932688"/>
            <a:ext cx="166420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56816" y="932688"/>
            <a:ext cx="1664208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048256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13258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316.124K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011680" y="18105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14.3% VS LM (Increased)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30752" y="932688"/>
            <a:ext cx="166420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0752" y="932688"/>
            <a:ext cx="1664208" cy="914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3822192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85616" y="13258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785616" y="18105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0.3% VS LM (Increased)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04688" y="932688"/>
            <a:ext cx="166420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04688" y="932688"/>
            <a:ext cx="1664208" cy="914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5596128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59552" y="13258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812.503K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559552" y="18105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30.8% (Ahead of LY YTD)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932688"/>
            <a:ext cx="166420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78624" y="932688"/>
            <a:ext cx="1664208" cy="914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7" name="Text 25"/>
          <p:cNvSpPr/>
          <p:nvPr/>
        </p:nvSpPr>
        <p:spPr>
          <a:xfrm>
            <a:off x="7370064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3488" y="13258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333488" y="18105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18.2% Growing YOY (→)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182880" y="2514600"/>
          <a:ext cx="539496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5715000" y="2514600"/>
            <a:ext cx="3246120" cy="2423160"/>
          </a:xfrm>
          <a:prstGeom prst="rect">
            <a:avLst/>
          </a:prstGeom>
          <a:solidFill>
            <a:srgbClr val="0F3460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833872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  Filter Pane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833872" y="3063240"/>
            <a:ext cx="2971800" cy="42062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4" name="Text 31"/>
          <p:cNvSpPr/>
          <p:nvPr/>
        </p:nvSpPr>
        <p:spPr>
          <a:xfrm>
            <a:off x="5925312" y="30815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Year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833872" y="3611880"/>
            <a:ext cx="2971800" cy="42062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6" name="Text 33"/>
          <p:cNvSpPr/>
          <p:nvPr/>
        </p:nvSpPr>
        <p:spPr>
          <a:xfrm>
            <a:off x="5925312" y="36301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Quarter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833872" y="4160520"/>
            <a:ext cx="2971800" cy="42062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8" name="Text 35"/>
          <p:cNvSpPr/>
          <p:nvPr/>
        </p:nvSpPr>
        <p:spPr>
          <a:xfrm>
            <a:off x="5925312" y="4178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Month-Year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2  —  TREND ANALYSIS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32688"/>
          <a:ext cx="53949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932688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932688"/>
            <a:ext cx="91440" cy="74980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987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18.2%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806440" y="1801368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6440" y="1801368"/>
            <a:ext cx="91440" cy="7498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1856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14.6%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806440" y="2670048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06440" y="2670048"/>
            <a:ext cx="9144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2724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Target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2971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1.50M</a:t>
            </a:r>
            <a:endParaRPr lang="en-US" sz="17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274320" y="3566160"/>
          <a:ext cx="85953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3  —  PRODUCT ANALYSIS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32688"/>
          <a:ext cx="51206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32688"/>
            <a:ext cx="32918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932688"/>
            <a:ext cx="91440" cy="69494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8" name="Text 5"/>
          <p:cNvSpPr/>
          <p:nvPr/>
        </p:nvSpPr>
        <p:spPr>
          <a:xfrm>
            <a:off x="5742432" y="969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42432" y="1261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13.82%  |  0.55M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1737360"/>
            <a:ext cx="32918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737360"/>
            <a:ext cx="9144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9"/>
          <p:cNvSpPr/>
          <p:nvPr/>
        </p:nvSpPr>
        <p:spPr>
          <a:xfrm>
            <a:off x="5742432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42432" y="20665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14.08%  |  0.38M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542032"/>
            <a:ext cx="32918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542032"/>
            <a:ext cx="91440" cy="69494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3"/>
          <p:cNvSpPr/>
          <p:nvPr/>
        </p:nvSpPr>
        <p:spPr>
          <a:xfrm>
            <a:off x="5742432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Choc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42432" y="28712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13.80%  |  0.18M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3346704"/>
            <a:ext cx="32918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346704"/>
            <a:ext cx="91440" cy="69494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7"/>
          <p:cNvSpPr/>
          <p:nvPr/>
        </p:nvSpPr>
        <p:spPr>
          <a:xfrm>
            <a:off x="5742432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42432" y="3675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13.31%  |  0.15M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77840" y="4151376"/>
            <a:ext cx="32918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4151376"/>
            <a:ext cx="91440" cy="694944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4" name="Text 21"/>
          <p:cNvSpPr/>
          <p:nvPr/>
        </p:nvSpPr>
        <p:spPr>
          <a:xfrm>
            <a:off x="5742432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42432" y="4480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26.56%  |  0.11M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4  —  STORE ANALYSIS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32688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932688"/>
            <a:ext cx="34290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59552" y="1060704"/>
            <a:ext cx="530352" cy="53035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8" name="Text 5"/>
          <p:cNvSpPr/>
          <p:nvPr/>
        </p:nvSpPr>
        <p:spPr>
          <a:xfrm>
            <a:off x="5559552" y="1060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99632" y="1024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99632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523.31K  |  Orders: ~50.7K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1892808"/>
            <a:ext cx="34290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59552" y="2020824"/>
            <a:ext cx="530352" cy="53035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0"/>
          <p:cNvSpPr/>
          <p:nvPr/>
        </p:nvSpPr>
        <p:spPr>
          <a:xfrm>
            <a:off x="555955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99632" y="1984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Astoria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99632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501.35K  |  Orders: ~50.6K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2852928"/>
            <a:ext cx="34290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59552" y="2980944"/>
            <a:ext cx="530352" cy="53035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8" name="Text 15"/>
          <p:cNvSpPr/>
          <p:nvPr/>
        </p:nvSpPr>
        <p:spPr>
          <a:xfrm>
            <a:off x="5559552" y="2980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99632" y="2944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99632" y="3273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475.41K  |  Orders: ~49.0K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3822192"/>
            <a:ext cx="8595360" cy="56692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85876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Hell's Kitchen leads in total sales at $523K. All 3 stores are performing consistently — difference is within 10% across locations.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4498848"/>
            <a:ext cx="8595360" cy="47548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526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breakdown  |  May: $191,234  ·  Jun: $184,695  ·  Mar: $116,287  ·  Jan: $94,232  ·  Feb: $88,967  (Apr: data gap)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&amp; GATEWAY SETUP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34440"/>
            <a:ext cx="621792" cy="62179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051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463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published to app.powerbi.com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Workspace: 'Internship 3rd Project'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234440"/>
            <a:ext cx="621792" cy="6217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50408" y="1051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Configure Gateway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0408" y="1463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data gateway installed.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path connected for scheduled refresh.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87752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862072"/>
            <a:ext cx="621792" cy="62179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8620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6791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Parameters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0906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 &amp; End Date parameters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via gateway for dynamic filtering.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587752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2862072"/>
            <a:ext cx="621792" cy="62179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8620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0408" y="26791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Connection Mode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0408" y="30906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connected to Semantic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via Live Connection for real-time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79392"/>
            <a:ext cx="859536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15968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Layout  —  A dedicated mobile view was created for each of the 4 reports, making it easy to monitor KPIs on any device, anytime.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Analytics  —  Power BI Internship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92608" cy="34747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3560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Excel </a:t>
            </a: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connected via Folder-based Power BI connection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292608" cy="34747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6596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842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 &amp; transformed in Power Query with dynamic date parameters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292608" cy="34747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51460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3288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Dim Date, Dim Stores, Dim Products </a:t>
            </a:r>
            <a:r>
              <a:rPr lang="en-US" sz="120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Transactions + Measures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292608" cy="34747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06324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0815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DAX Measures: Total Sales 1.50M </a:t>
            </a:r>
            <a:r>
              <a:rPr lang="en-US" sz="120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Total Orders </a:t>
            </a: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316.124K </a:t>
            </a:r>
            <a:r>
              <a:rPr lang="en-US" sz="120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Average Order Value </a:t>
            </a: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292608" cy="34747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61188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6301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Reports + Mobile Layouts for all pages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160520"/>
            <a:ext cx="292608" cy="347472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16052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17880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with Gateway, Live Connection &amp; Scheduled Refresh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45</TotalTime>
  <Words>760</Words>
  <Application>Microsoft Office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Calibri</vt:lpstr>
      <vt:lpstr>Century Gothic</vt:lpstr>
      <vt:lpstr>Consolas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Shop Sales Analytics</dc:title>
  <dc:subject>PptxGenJS Presentation</dc:subject>
  <dc:creator>PptxGenJS</dc:creator>
  <cp:lastModifiedBy>Vinay Goud</cp:lastModifiedBy>
  <cp:revision>2</cp:revision>
  <dcterms:created xsi:type="dcterms:W3CDTF">2026-05-15T06:00:31Z</dcterms:created>
  <dcterms:modified xsi:type="dcterms:W3CDTF">2026-05-15T06:48:32Z</dcterms:modified>
</cp:coreProperties>
</file>